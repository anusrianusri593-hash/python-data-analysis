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EB1370-CB76-4FBA-BC2C-E8E0BFEB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09363"/>
            <a:ext cx="8911687" cy="18331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3993F-B160-4460-BE34-D9A2D068D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242492"/>
            <a:ext cx="8915400" cy="3668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        SCHOOL OF COMPUTER SCIENCES</a:t>
            </a:r>
          </a:p>
          <a:p>
            <a:pPr marL="0" indent="0">
              <a:buNone/>
            </a:pPr>
            <a:r>
              <a:rPr lang="en-US" sz="2800" dirty="0">
                <a:latin typeface="Algerian" panose="04020705040A02060702" pitchFamily="82" charset="0"/>
              </a:rPr>
              <a:t>NAME      : ANUSRI A</a:t>
            </a:r>
          </a:p>
          <a:p>
            <a:pPr marL="0" indent="0">
              <a:buNone/>
            </a:pPr>
            <a:r>
              <a:rPr lang="en-US" sz="2800" dirty="0">
                <a:latin typeface="Algerian" panose="04020705040A02060702" pitchFamily="82" charset="0"/>
              </a:rPr>
              <a:t>ROLL NO  : TU6253210211002</a:t>
            </a:r>
          </a:p>
          <a:p>
            <a:pPr marL="0" indent="0">
              <a:buNone/>
            </a:pPr>
            <a:r>
              <a:rPr lang="en-US" sz="2800" dirty="0">
                <a:latin typeface="Algerian" panose="04020705040A02060702" pitchFamily="82" charset="0"/>
              </a:rPr>
              <a:t>Subject : Object Oriented Programming with              Java</a:t>
            </a:r>
          </a:p>
          <a:p>
            <a:pPr marL="0" indent="0">
              <a:buNone/>
            </a:pPr>
            <a:r>
              <a:rPr lang="en-US" sz="2800" dirty="0">
                <a:latin typeface="Algerian" panose="04020705040A02060702" pitchFamily="82" charset="0"/>
              </a:rPr>
              <a:t>Topic      : Limitations of Traditional Error Handling</a:t>
            </a:r>
          </a:p>
        </p:txBody>
      </p:sp>
      <p:pic>
        <p:nvPicPr>
          <p:cNvPr id="1026" name="Picture 2" descr="Takshashila University: Admissions 2023, Courses, Fees ...">
            <a:extLst>
              <a:ext uri="{FF2B5EF4-FFF2-40B4-BE49-F238E27FC236}">
                <a16:creationId xmlns:a16="http://schemas.microsoft.com/office/drawing/2014/main" id="{A82C1E97-0A2B-4902-BE08-E6331A271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705" y="409362"/>
            <a:ext cx="2095500" cy="183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756D1D-5541-47FD-8ACD-3354AADA7A49}"/>
              </a:ext>
            </a:extLst>
          </p:cNvPr>
          <p:cNvSpPr txBox="1"/>
          <p:nvPr/>
        </p:nvSpPr>
        <p:spPr>
          <a:xfrm>
            <a:off x="2978727" y="28124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24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B959-8D3E-4679-A574-32783C46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Traditional Error Handling</a:t>
            </a:r>
            <a:br>
              <a:rPr lang="en-US" sz="4000" dirty="0">
                <a:latin typeface="Algerian" panose="04020705040A02060702" pitchFamily="82" charset="0"/>
              </a:rPr>
            </a:b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BEE8-C6FA-4F87-94A4-DD608D5D3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latin typeface="Bahnschrift SemiBold" panose="020B0502040204020203" pitchFamily="34" charset="0"/>
              </a:rPr>
              <a:t>Early programming languages handled errors manually.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Programmers used if–else conditions to check possible errors.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Error messages or return values indicate failure.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This method works for small programs but has several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385457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EB63-2A5E-4130-8F46-95739D23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05926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Example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5DE4-F0A6-4F0E-8E8C-A427B478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79419"/>
            <a:ext cx="8915400" cy="446512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public class </a:t>
            </a:r>
            <a:r>
              <a:rPr lang="en-US" dirty="0" err="1">
                <a:latin typeface="Bahnschrift SemiBold" panose="020B0502040204020203" pitchFamily="34" charset="0"/>
              </a:rPr>
              <a:t>TraditionalErrorExample</a:t>
            </a:r>
            <a:r>
              <a:rPr lang="en-US" dirty="0">
                <a:latin typeface="Bahnschrift SemiBold" panose="020B0502040204020203" pitchFamily="34" charset="0"/>
              </a:rPr>
              <a:t> {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public static void main(String[] </a:t>
            </a:r>
            <a:r>
              <a:rPr lang="en-US" dirty="0" err="1">
                <a:latin typeface="Bahnschrift SemiBold" panose="020B0502040204020203" pitchFamily="34" charset="0"/>
              </a:rPr>
              <a:t>args</a:t>
            </a:r>
            <a:r>
              <a:rPr lang="en-US" dirty="0">
                <a:latin typeface="Bahnschrift SemiBold" panose="020B0502040204020203" pitchFamily="34" charset="0"/>
              </a:rPr>
              <a:t>) {</a:t>
            </a:r>
          </a:p>
          <a:p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        int a = 10;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int b = 0;</a:t>
            </a:r>
          </a:p>
          <a:p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        if(b != 0){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    int result = a / b;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    </a:t>
            </a:r>
            <a:r>
              <a:rPr lang="en-US" dirty="0" err="1">
                <a:latin typeface="Bahnschrift SemiBold" panose="020B0502040204020203" pitchFamily="34" charset="0"/>
              </a:rPr>
              <a:t>System.out.println</a:t>
            </a:r>
            <a:r>
              <a:rPr lang="en-US" dirty="0">
                <a:latin typeface="Bahnschrift SemiBold" panose="020B0502040204020203" pitchFamily="34" charset="0"/>
              </a:rPr>
              <a:t>("Result = " + result);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} else {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    </a:t>
            </a:r>
            <a:r>
              <a:rPr lang="en-US" dirty="0" err="1">
                <a:latin typeface="Bahnschrift SemiBold" panose="020B0502040204020203" pitchFamily="34" charset="0"/>
              </a:rPr>
              <a:t>System.out.println</a:t>
            </a:r>
            <a:r>
              <a:rPr lang="en-US" dirty="0">
                <a:latin typeface="Bahnschrift SemiBold" panose="020B0502040204020203" pitchFamily="34" charset="0"/>
              </a:rPr>
              <a:t>("Error: Division by zero");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        }</a:t>
            </a:r>
          </a:p>
          <a:p>
            <a:endParaRPr lang="en-US" dirty="0">
              <a:latin typeface="Bahnschrift SemiBold" panose="020B0502040204020203" pitchFamily="34" charset="0"/>
            </a:endParaRPr>
          </a:p>
          <a:p>
            <a:r>
              <a:rPr lang="en-US" dirty="0">
                <a:latin typeface="Bahnschrift SemiBold" panose="020B0502040204020203" pitchFamily="34" charset="0"/>
              </a:rPr>
              <a:t>    }</a:t>
            </a:r>
          </a:p>
          <a:p>
            <a:r>
              <a:rPr lang="en-US" dirty="0">
                <a:latin typeface="Bahnschrift SemiBold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11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2CC3-0884-49E1-A929-CE703523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Limitation 1: Code Complexity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AC03-A2BC-44C8-8D3D-FAE04DF4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Bahnschrift Condensed" panose="020B0502040204020203" pitchFamily="34" charset="0"/>
              </a:rPr>
              <a:t>Large programs require many if–else conditions.</a:t>
            </a:r>
          </a:p>
          <a:p>
            <a:r>
              <a:rPr lang="en-US" sz="2400" dirty="0">
                <a:latin typeface="Bahnschrift Condensed" panose="020B0502040204020203" pitchFamily="34" charset="0"/>
              </a:rPr>
              <a:t>Code becomes long and complex</a:t>
            </a:r>
          </a:p>
          <a:p>
            <a:r>
              <a:rPr lang="en-US" sz="2400" dirty="0">
                <a:latin typeface="Bahnschrift Condensed" panose="020B0502040204020203" pitchFamily="34" charset="0"/>
              </a:rPr>
              <a:t>Difficult to read and maintain.</a:t>
            </a:r>
          </a:p>
          <a:p>
            <a:r>
              <a:rPr lang="en-US" sz="2400" dirty="0">
                <a:latin typeface="Bahnschrift Condensed" panose="020B0502040204020203" pitchFamily="34" charset="0"/>
              </a:rPr>
              <a:t>Program logic becomes unclear.</a:t>
            </a:r>
          </a:p>
        </p:txBody>
      </p:sp>
    </p:spTree>
    <p:extLst>
      <p:ext uri="{BB962C8B-B14F-4D97-AF65-F5344CB8AC3E}">
        <p14:creationId xmlns:p14="http://schemas.microsoft.com/office/powerpoint/2010/main" val="3424898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C733-85F4-4360-A3D0-A2B996FD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Limitation 2: Mixing Logic with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F7E50-3FDC-4AC6-9EAA-E7A65BB93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33797"/>
            <a:ext cx="8915400" cy="431074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Bahnschrift SemiBold" panose="020B0502040204020203" pitchFamily="34" charset="0"/>
              </a:rPr>
              <a:t>Error handling code is mixed with normal program code.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Makes the program difficult to understand.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Hard to separate main logic and error checking.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Example: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if(file != null){  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     </a:t>
            </a:r>
            <a:r>
              <a:rPr lang="en-US" sz="2000" dirty="0" err="1">
                <a:latin typeface="Bahnschrift SemiBold" panose="020B0502040204020203" pitchFamily="34" charset="0"/>
              </a:rPr>
              <a:t>readFile</a:t>
            </a:r>
            <a:r>
              <a:rPr lang="en-US" sz="2000" dirty="0">
                <a:latin typeface="Bahnschrift SemiBold" panose="020B0502040204020203" pitchFamily="34" charset="0"/>
              </a:rPr>
              <a:t>();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}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else{  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 </a:t>
            </a:r>
            <a:r>
              <a:rPr lang="en-US" sz="2000" dirty="0" err="1">
                <a:latin typeface="Bahnschrift SemiBold" panose="020B0502040204020203" pitchFamily="34" charset="0"/>
              </a:rPr>
              <a:t>System.out.println</a:t>
            </a:r>
            <a:r>
              <a:rPr lang="en-US" sz="2000" dirty="0">
                <a:latin typeface="Bahnschrift SemiBold" panose="020B0502040204020203" pitchFamily="34" charset="0"/>
              </a:rPr>
              <a:t>("File not found");</a:t>
            </a:r>
          </a:p>
          <a:p>
            <a:r>
              <a:rPr lang="en-US" sz="2000" dirty="0">
                <a:latin typeface="Bahnschrift SemiBold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486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DFCD-FD19-4A14-BBDD-94F75D00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Limitation 3 &amp;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EEE5-614C-4338-B76B-8024AAF22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Limitation 3 &amp; 4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1. Difficult Debugging</a:t>
            </a:r>
          </a:p>
          <a:p>
            <a:pPr marL="0" indent="0">
              <a:buNone/>
            </a:pPr>
            <a:r>
              <a:rPr lang="en-US" sz="2400" dirty="0">
                <a:latin typeface="Bahnschrift SemiBold" panose="020B0502040204020203" pitchFamily="34" charset="0"/>
              </a:rPr>
              <a:t>     Errors are checked in many places.</a:t>
            </a:r>
          </a:p>
          <a:p>
            <a:pPr marL="0" indent="0">
              <a:buNone/>
            </a:pPr>
            <a:r>
              <a:rPr lang="en-US" sz="2400" dirty="0">
                <a:latin typeface="Bahnschrift SemiBold" panose="020B0502040204020203" pitchFamily="34" charset="0"/>
              </a:rPr>
              <a:t>     Hard to locate where the actual error occurred.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2. Code Duplication</a:t>
            </a:r>
          </a:p>
          <a:p>
            <a:pPr marL="0" indent="0">
              <a:buNone/>
            </a:pPr>
            <a:r>
              <a:rPr lang="en-US" sz="2400" dirty="0">
                <a:latin typeface="Bahnschrift SemiBold" panose="020B0502040204020203" pitchFamily="34" charset="0"/>
              </a:rPr>
              <a:t>     Same error checking code is repeated.</a:t>
            </a:r>
          </a:p>
          <a:p>
            <a:pPr marL="0" indent="0">
              <a:buNone/>
            </a:pPr>
            <a:r>
              <a:rPr lang="en-US" sz="2400" dirty="0">
                <a:latin typeface="Bahnschrift SemiBold" panose="020B0502040204020203" pitchFamily="34" charset="0"/>
              </a:rPr>
              <a:t>     Increases program size unnecessarily </a:t>
            </a:r>
          </a:p>
        </p:txBody>
      </p:sp>
    </p:spTree>
    <p:extLst>
      <p:ext uri="{BB962C8B-B14F-4D97-AF65-F5344CB8AC3E}">
        <p14:creationId xmlns:p14="http://schemas.microsoft.com/office/powerpoint/2010/main" val="302642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CF40-201A-4860-9640-2E12AD03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-997527"/>
            <a:ext cx="8911687" cy="475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59DF-1F4A-4BE4-BF44-1460AF764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45126"/>
            <a:ext cx="8915400" cy="466609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latin typeface="Bahnschrift SemiBold" panose="020B0502040204020203" pitchFamily="34" charset="0"/>
              </a:rPr>
              <a:t>Traditional error handling uses conditional statements.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It has many limitations such as: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Complex code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Mixing logic and error handling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Difficult debugging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Code duplication</a:t>
            </a:r>
          </a:p>
          <a:p>
            <a:r>
              <a:rPr lang="en-US" sz="2400" dirty="0">
                <a:latin typeface="Bahnschrift SemiBold" panose="020B0502040204020203" pitchFamily="34" charset="0"/>
              </a:rPr>
              <a:t>These problems led to the introduction of Exception Handling in Java.</a:t>
            </a:r>
          </a:p>
        </p:txBody>
      </p:sp>
    </p:spTree>
    <p:extLst>
      <p:ext uri="{BB962C8B-B14F-4D97-AF65-F5344CB8AC3E}">
        <p14:creationId xmlns:p14="http://schemas.microsoft.com/office/powerpoint/2010/main" val="39767489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323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Arial</vt:lpstr>
      <vt:lpstr>Arial Black</vt:lpstr>
      <vt:lpstr>Bahnschrift Condensed</vt:lpstr>
      <vt:lpstr>Bahnschrift SemiBold</vt:lpstr>
      <vt:lpstr>Century Gothic</vt:lpstr>
      <vt:lpstr>Wingdings 3</vt:lpstr>
      <vt:lpstr>Wisp</vt:lpstr>
      <vt:lpstr>PowerPoint Presentation</vt:lpstr>
      <vt:lpstr>Traditional Error Handling </vt:lpstr>
      <vt:lpstr>Example code:</vt:lpstr>
      <vt:lpstr>Limitation 1: Code Complexity </vt:lpstr>
      <vt:lpstr>Limitation 2: Mixing Logic with Error Handling</vt:lpstr>
      <vt:lpstr>Limitation 3 &amp; 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2026-03-08T17:47:19Z</dcterms:created>
  <dcterms:modified xsi:type="dcterms:W3CDTF">2026-03-09T05:24:58Z</dcterms:modified>
</cp:coreProperties>
</file>